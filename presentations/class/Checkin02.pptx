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62" r:id="rId4"/>
    <p:sldId id="257"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kar Sonar" userId="70dbfcd21af17b01" providerId="LiveId" clId="{0B6FD110-2196-4656-B911-E415BA9907B5}"/>
    <pc:docChg chg="custSel addSld modSld sldOrd">
      <pc:chgData name="Omkar Sonar" userId="70dbfcd21af17b01" providerId="LiveId" clId="{0B6FD110-2196-4656-B911-E415BA9907B5}" dt="2026-02-09T23:23:10.258" v="232"/>
      <pc:docMkLst>
        <pc:docMk/>
      </pc:docMkLst>
      <pc:sldChg chg="add">
        <pc:chgData name="Omkar Sonar" userId="70dbfcd21af17b01" providerId="LiveId" clId="{0B6FD110-2196-4656-B911-E415BA9907B5}" dt="2026-02-09T23:15:40.805" v="230"/>
        <pc:sldMkLst>
          <pc:docMk/>
          <pc:sldMk cId="4150976142" sldId="257"/>
        </pc:sldMkLst>
      </pc:sldChg>
      <pc:sldChg chg="modSp mod">
        <pc:chgData name="Omkar Sonar" userId="70dbfcd21af17b01" providerId="LiveId" clId="{0B6FD110-2196-4656-B911-E415BA9907B5}" dt="2026-02-09T23:07:05.478" v="229" actId="20577"/>
        <pc:sldMkLst>
          <pc:docMk/>
          <pc:sldMk cId="21886708" sldId="258"/>
        </pc:sldMkLst>
        <pc:spChg chg="mod">
          <ac:chgData name="Omkar Sonar" userId="70dbfcd21af17b01" providerId="LiveId" clId="{0B6FD110-2196-4656-B911-E415BA9907B5}" dt="2026-02-09T23:07:05.478" v="229" actId="20577"/>
          <ac:spMkLst>
            <pc:docMk/>
            <pc:sldMk cId="21886708" sldId="258"/>
            <ac:spMk id="2" creationId="{6E56F401-A273-71FF-F566-F7D710970B21}"/>
          </ac:spMkLst>
        </pc:spChg>
      </pc:sldChg>
      <pc:sldChg chg="modSp mod">
        <pc:chgData name="Omkar Sonar" userId="70dbfcd21af17b01" providerId="LiveId" clId="{0B6FD110-2196-4656-B911-E415BA9907B5}" dt="2026-02-09T22:45:15.052" v="193" actId="113"/>
        <pc:sldMkLst>
          <pc:docMk/>
          <pc:sldMk cId="640826437" sldId="260"/>
        </pc:sldMkLst>
        <pc:spChg chg="mod">
          <ac:chgData name="Omkar Sonar" userId="70dbfcd21af17b01" providerId="LiveId" clId="{0B6FD110-2196-4656-B911-E415BA9907B5}" dt="2026-02-09T22:45:15.052" v="193" actId="113"/>
          <ac:spMkLst>
            <pc:docMk/>
            <pc:sldMk cId="640826437" sldId="260"/>
            <ac:spMk id="3" creationId="{7C3FE2C2-59CC-84C3-5672-7108A83E8489}"/>
          </ac:spMkLst>
        </pc:spChg>
      </pc:sldChg>
      <pc:sldChg chg="modSp mod ord">
        <pc:chgData name="Omkar Sonar" userId="70dbfcd21af17b01" providerId="LiveId" clId="{0B6FD110-2196-4656-B911-E415BA9907B5}" dt="2026-02-09T22:58:40.843" v="205" actId="113"/>
        <pc:sldMkLst>
          <pc:docMk/>
          <pc:sldMk cId="736506416" sldId="261"/>
        </pc:sldMkLst>
        <pc:spChg chg="mod">
          <ac:chgData name="Omkar Sonar" userId="70dbfcd21af17b01" providerId="LiveId" clId="{0B6FD110-2196-4656-B911-E415BA9907B5}" dt="2026-02-09T22:58:40.843" v="205" actId="113"/>
          <ac:spMkLst>
            <pc:docMk/>
            <pc:sldMk cId="736506416" sldId="261"/>
            <ac:spMk id="3" creationId="{953331F3-FF68-FD1E-5A15-12C58EEF747C}"/>
          </ac:spMkLst>
        </pc:spChg>
      </pc:sldChg>
      <pc:sldChg chg="addSp modSp new mod ord">
        <pc:chgData name="Omkar Sonar" userId="70dbfcd21af17b01" providerId="LiveId" clId="{0B6FD110-2196-4656-B911-E415BA9907B5}" dt="2026-02-09T23:23:10.258" v="232"/>
        <pc:sldMkLst>
          <pc:docMk/>
          <pc:sldMk cId="3451934462" sldId="262"/>
        </pc:sldMkLst>
        <pc:spChg chg="mod">
          <ac:chgData name="Omkar Sonar" userId="70dbfcd21af17b01" providerId="LiveId" clId="{0B6FD110-2196-4656-B911-E415BA9907B5}" dt="2026-02-09T22:41:53.965" v="87" actId="20577"/>
          <ac:spMkLst>
            <pc:docMk/>
            <pc:sldMk cId="3451934462" sldId="262"/>
            <ac:spMk id="2" creationId="{5A63DC70-F9B3-1839-F445-D60C74FEBA20}"/>
          </ac:spMkLst>
        </pc:spChg>
        <pc:spChg chg="add mod">
          <ac:chgData name="Omkar Sonar" userId="70dbfcd21af17b01" providerId="LiveId" clId="{0B6FD110-2196-4656-B911-E415BA9907B5}" dt="2026-02-09T22:59:08.530" v="210"/>
          <ac:spMkLst>
            <pc:docMk/>
            <pc:sldMk cId="3451934462" sldId="262"/>
            <ac:spMk id="3" creationId="{F20F6A44-74B3-B0B7-A1F4-7030DA9046B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2/9/2026</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58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4964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419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575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766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418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017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222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602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587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2/9/2026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795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2/9/2026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F3A4D-EDF6-12E6-9C90-497F9EB08295}"/>
              </a:ext>
            </a:extLst>
          </p:cNvPr>
          <p:cNvSpPr>
            <a:spLocks noGrp="1"/>
          </p:cNvSpPr>
          <p:nvPr>
            <p:ph type="ctrTitle"/>
          </p:nvPr>
        </p:nvSpPr>
        <p:spPr/>
        <p:txBody>
          <a:bodyPr>
            <a:normAutofit fontScale="90000"/>
          </a:bodyPr>
          <a:lstStyle/>
          <a:p>
            <a:r>
              <a:rPr lang="en-US" dirty="0"/>
              <a:t>Customer – Transactions Activity &amp; Spending Patterns</a:t>
            </a:r>
          </a:p>
        </p:txBody>
      </p:sp>
      <p:sp>
        <p:nvSpPr>
          <p:cNvPr id="3" name="Subtitle 2">
            <a:extLst>
              <a:ext uri="{FF2B5EF4-FFF2-40B4-BE49-F238E27FC236}">
                <a16:creationId xmlns:a16="http://schemas.microsoft.com/office/drawing/2014/main" id="{A9EBCC98-45ED-1DDF-D276-F81AA39B4413}"/>
              </a:ext>
            </a:extLst>
          </p:cNvPr>
          <p:cNvSpPr>
            <a:spLocks noGrp="1"/>
          </p:cNvSpPr>
          <p:nvPr>
            <p:ph type="subTitle" idx="1"/>
          </p:nvPr>
        </p:nvSpPr>
        <p:spPr/>
        <p:txBody>
          <a:bodyPr/>
          <a:lstStyle/>
          <a:p>
            <a:r>
              <a:rPr lang="en-US" dirty="0"/>
              <a:t>DS 5500 : Check-in 02</a:t>
            </a:r>
          </a:p>
          <a:p>
            <a:r>
              <a:rPr lang="en-US" dirty="0"/>
              <a:t>Omkar Sonar</a:t>
            </a:r>
          </a:p>
          <a:p>
            <a:r>
              <a:rPr lang="en-US" dirty="0"/>
              <a:t>9th February 2026</a:t>
            </a:r>
          </a:p>
        </p:txBody>
      </p:sp>
    </p:spTree>
    <p:extLst>
      <p:ext uri="{BB962C8B-B14F-4D97-AF65-F5344CB8AC3E}">
        <p14:creationId xmlns:p14="http://schemas.microsoft.com/office/powerpoint/2010/main" val="2331513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6F401-A273-71FF-F566-F7D710970B21}"/>
              </a:ext>
            </a:extLst>
          </p:cNvPr>
          <p:cNvSpPr>
            <a:spLocks noGrp="1"/>
          </p:cNvSpPr>
          <p:nvPr>
            <p:ph type="title"/>
          </p:nvPr>
        </p:nvSpPr>
        <p:spPr/>
        <p:txBody>
          <a:bodyPr/>
          <a:lstStyle/>
          <a:p>
            <a:r>
              <a:rPr lang="en-US" dirty="0"/>
              <a:t>Context</a:t>
            </a:r>
          </a:p>
        </p:txBody>
      </p:sp>
      <p:sp>
        <p:nvSpPr>
          <p:cNvPr id="4" name="TextBox 3">
            <a:extLst>
              <a:ext uri="{FF2B5EF4-FFF2-40B4-BE49-F238E27FC236}">
                <a16:creationId xmlns:a16="http://schemas.microsoft.com/office/drawing/2014/main" id="{460EAF33-4566-1421-995A-6EFF9F7A7DA7}"/>
              </a:ext>
            </a:extLst>
          </p:cNvPr>
          <p:cNvSpPr txBox="1"/>
          <p:nvPr/>
        </p:nvSpPr>
        <p:spPr>
          <a:xfrm>
            <a:off x="395926" y="1690688"/>
            <a:ext cx="11397006" cy="4801314"/>
          </a:xfrm>
          <a:prstGeom prst="rect">
            <a:avLst/>
          </a:prstGeom>
          <a:noFill/>
        </p:spPr>
        <p:txBody>
          <a:bodyPr wrap="square" rtlCol="0">
            <a:spAutoFit/>
          </a:bodyPr>
          <a:lstStyle/>
          <a:p>
            <a:pPr marL="742950" lvl="1" indent="-285750">
              <a:buFont typeface="Arial" panose="020B0604020202020204" pitchFamily="34" charset="0"/>
              <a:buChar char="•"/>
            </a:pPr>
            <a:r>
              <a:rPr lang="en-US" dirty="0"/>
              <a:t>Initial – </a:t>
            </a:r>
          </a:p>
          <a:p>
            <a:pPr lvl="1"/>
            <a:r>
              <a:rPr lang="en-US" i="1" dirty="0"/>
              <a:t>Bank transactions generally record everything and though they are masked or concise, a bank employee would be able to decode a person's habits and most of their routine based on their bank transactions. Analyzing the different kinds of transactions and deducing patterns in them can also help us in finding </a:t>
            </a:r>
            <a:r>
              <a:rPr lang="en-US" b="1" i="1" dirty="0"/>
              <a:t>anomalies based on unusual activity</a:t>
            </a:r>
            <a:r>
              <a:rPr lang="en-US" i="1" dirty="0"/>
              <a:t>. This could indicate </a:t>
            </a:r>
            <a:r>
              <a:rPr lang="en-US" b="1" i="1" dirty="0"/>
              <a:t>account takeover or card fraud</a:t>
            </a:r>
            <a:r>
              <a:rPr lang="en-US" i="1" dirty="0"/>
              <a:t>. The primary goal is to demonstrate how customer data and their transaction behavior can help us in surfacing this suspicious activity. As more progress is made on this data, the scope is subject to change based on the initial findings.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Now –</a:t>
            </a:r>
          </a:p>
          <a:p>
            <a:pPr lvl="1"/>
            <a:r>
              <a:rPr lang="en-US" i="1" dirty="0"/>
              <a:t>a customer intelligence system that </a:t>
            </a:r>
            <a:r>
              <a:rPr lang="en-US" b="1" i="1" dirty="0"/>
              <a:t>segments customers by their transaction behavior and predicts spending patterns.</a:t>
            </a:r>
            <a:r>
              <a:rPr lang="en-US" i="1" dirty="0"/>
              <a:t> This would enable more personalized service, targeted product offerings, and deeper understanding of customer needs.</a:t>
            </a:r>
          </a:p>
          <a:p>
            <a:pPr lvl="1"/>
            <a:r>
              <a:rPr lang="en-US" i="1" dirty="0"/>
              <a:t>This can complement the conversation/recommendation engine.</a:t>
            </a:r>
          </a:p>
          <a:p>
            <a:pPr lvl="1"/>
            <a:endParaRPr lang="en-US" i="1" dirty="0"/>
          </a:p>
          <a:p>
            <a:pPr lvl="1"/>
            <a:endParaRPr lang="en-US" i="1"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1886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DC70-F9B3-1839-F445-D60C74FEBA20}"/>
              </a:ext>
            </a:extLst>
          </p:cNvPr>
          <p:cNvSpPr>
            <a:spLocks noGrp="1"/>
          </p:cNvSpPr>
          <p:nvPr>
            <p:ph type="title"/>
          </p:nvPr>
        </p:nvSpPr>
        <p:spPr/>
        <p:txBody>
          <a:bodyPr/>
          <a:lstStyle/>
          <a:p>
            <a:r>
              <a:rPr lang="en-US" dirty="0"/>
              <a:t>Insights from Stakeholder meeting</a:t>
            </a:r>
          </a:p>
        </p:txBody>
      </p:sp>
      <p:sp>
        <p:nvSpPr>
          <p:cNvPr id="3" name="TextBox 2">
            <a:extLst>
              <a:ext uri="{FF2B5EF4-FFF2-40B4-BE49-F238E27FC236}">
                <a16:creationId xmlns:a16="http://schemas.microsoft.com/office/drawing/2014/main" id="{F20F6A44-74B3-B0B7-A1F4-7030DA9046B2}"/>
              </a:ext>
            </a:extLst>
          </p:cNvPr>
          <p:cNvSpPr txBox="1"/>
          <p:nvPr/>
        </p:nvSpPr>
        <p:spPr>
          <a:xfrm>
            <a:off x="358219" y="1690688"/>
            <a:ext cx="11585542"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To identify customers who may be struggling financially before their situation worsens with the goal of helping them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Determine which customers are good candidates for the bank's rewards program (Buoy Local)</a:t>
            </a:r>
          </a:p>
          <a:p>
            <a:r>
              <a:rPr lang="en-US" dirty="0"/>
              <a:t>  </a:t>
            </a:r>
          </a:p>
          <a:p>
            <a:pPr marL="285750" indent="-285750">
              <a:buFont typeface="Arial" panose="020B0604020202020204" pitchFamily="34" charset="0"/>
              <a:buChar char="•"/>
            </a:pPr>
            <a:r>
              <a:rPr lang="en-US" dirty="0"/>
              <a:t>Promote local businesses to relevant customer segments (goes along with #2)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Deliver personalized cashback incentives aligned with actual spending habits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451934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0F563-6D7A-3D6B-F883-A7E3006E501F}"/>
              </a:ext>
            </a:extLst>
          </p:cNvPr>
          <p:cNvSpPr>
            <a:spLocks noGrp="1"/>
          </p:cNvSpPr>
          <p:nvPr>
            <p:ph type="title"/>
          </p:nvPr>
        </p:nvSpPr>
        <p:spPr/>
        <p:txBody>
          <a:bodyPr/>
          <a:lstStyle/>
          <a:p>
            <a:r>
              <a:rPr lang="en-US" dirty="0"/>
              <a:t>About Data</a:t>
            </a:r>
          </a:p>
        </p:txBody>
      </p:sp>
      <p:sp>
        <p:nvSpPr>
          <p:cNvPr id="3" name="TextBox 2">
            <a:extLst>
              <a:ext uri="{FF2B5EF4-FFF2-40B4-BE49-F238E27FC236}">
                <a16:creationId xmlns:a16="http://schemas.microsoft.com/office/drawing/2014/main" id="{86176D1B-0D73-1976-287B-1EDDDF09BD03}"/>
              </a:ext>
            </a:extLst>
          </p:cNvPr>
          <p:cNvSpPr txBox="1"/>
          <p:nvPr/>
        </p:nvSpPr>
        <p:spPr>
          <a:xfrm>
            <a:off x="373141" y="1504865"/>
            <a:ext cx="11641173" cy="923330"/>
          </a:xfrm>
          <a:prstGeom prst="rect">
            <a:avLst/>
          </a:prstGeom>
          <a:noFill/>
        </p:spPr>
        <p:txBody>
          <a:bodyPr wrap="square" rtlCol="0">
            <a:spAutoFit/>
          </a:bodyPr>
          <a:lstStyle/>
          <a:p>
            <a:pPr marL="742950" lvl="1" indent="-285750">
              <a:buFont typeface="Arial" panose="020B0604020202020204" pitchFamily="34" charset="0"/>
              <a:buChar char="•"/>
            </a:pPr>
            <a:r>
              <a:rPr lang="en-US" dirty="0"/>
              <a:t>Customer Demographics ~276K records</a:t>
            </a:r>
          </a:p>
          <a:p>
            <a:pPr marL="742950" lvl="1" indent="-285750">
              <a:buFont typeface="Arial" panose="020B0604020202020204" pitchFamily="34" charset="0"/>
              <a:buChar char="•"/>
            </a:pPr>
            <a:r>
              <a:rPr lang="en-US" dirty="0"/>
              <a:t>Transactions ~8M records</a:t>
            </a:r>
          </a:p>
          <a:p>
            <a:endParaRPr lang="en-US" dirty="0"/>
          </a:p>
        </p:txBody>
      </p:sp>
      <p:pic>
        <p:nvPicPr>
          <p:cNvPr id="5" name="Picture 4">
            <a:extLst>
              <a:ext uri="{FF2B5EF4-FFF2-40B4-BE49-F238E27FC236}">
                <a16:creationId xmlns:a16="http://schemas.microsoft.com/office/drawing/2014/main" id="{D2AC5283-6127-947F-6851-9B05C99AD4C4}"/>
              </a:ext>
            </a:extLst>
          </p:cNvPr>
          <p:cNvPicPr>
            <a:picLocks noChangeAspect="1"/>
          </p:cNvPicPr>
          <p:nvPr/>
        </p:nvPicPr>
        <p:blipFill>
          <a:blip r:embed="rId2"/>
          <a:stretch>
            <a:fillRect/>
          </a:stretch>
        </p:blipFill>
        <p:spPr>
          <a:xfrm>
            <a:off x="1102718" y="2103530"/>
            <a:ext cx="3547192" cy="4516759"/>
          </a:xfrm>
          <a:prstGeom prst="rect">
            <a:avLst/>
          </a:prstGeom>
        </p:spPr>
      </p:pic>
      <p:pic>
        <p:nvPicPr>
          <p:cNvPr id="7" name="Picture 6">
            <a:extLst>
              <a:ext uri="{FF2B5EF4-FFF2-40B4-BE49-F238E27FC236}">
                <a16:creationId xmlns:a16="http://schemas.microsoft.com/office/drawing/2014/main" id="{5194A381-ADFD-A561-885D-8D97380C1D45}"/>
              </a:ext>
            </a:extLst>
          </p:cNvPr>
          <p:cNvPicPr>
            <a:picLocks noChangeAspect="1"/>
          </p:cNvPicPr>
          <p:nvPr/>
        </p:nvPicPr>
        <p:blipFill>
          <a:blip r:embed="rId3"/>
          <a:stretch>
            <a:fillRect/>
          </a:stretch>
        </p:blipFill>
        <p:spPr>
          <a:xfrm>
            <a:off x="5730763" y="2245763"/>
            <a:ext cx="4640229" cy="3982818"/>
          </a:xfrm>
          <a:prstGeom prst="rect">
            <a:avLst/>
          </a:prstGeom>
        </p:spPr>
      </p:pic>
    </p:spTree>
    <p:extLst>
      <p:ext uri="{BB962C8B-B14F-4D97-AF65-F5344CB8AC3E}">
        <p14:creationId xmlns:p14="http://schemas.microsoft.com/office/powerpoint/2010/main" val="4150976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32C4B-983E-FE3D-EA4E-EA7CF8FD2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9F513-2F2F-AE81-7868-28987C3D1170}"/>
              </a:ext>
            </a:extLst>
          </p:cNvPr>
          <p:cNvSpPr>
            <a:spLocks noGrp="1"/>
          </p:cNvSpPr>
          <p:nvPr>
            <p:ph type="title"/>
          </p:nvPr>
        </p:nvSpPr>
        <p:spPr/>
        <p:txBody>
          <a:bodyPr/>
          <a:lstStyle/>
          <a:p>
            <a:r>
              <a:rPr lang="en-US" dirty="0"/>
              <a:t>EDA So Far…</a:t>
            </a:r>
          </a:p>
        </p:txBody>
      </p:sp>
      <p:sp>
        <p:nvSpPr>
          <p:cNvPr id="3" name="TextBox 2">
            <a:extLst>
              <a:ext uri="{FF2B5EF4-FFF2-40B4-BE49-F238E27FC236}">
                <a16:creationId xmlns:a16="http://schemas.microsoft.com/office/drawing/2014/main" id="{953331F3-FF68-FD1E-5A15-12C58EEF747C}"/>
              </a:ext>
            </a:extLst>
          </p:cNvPr>
          <p:cNvSpPr txBox="1"/>
          <p:nvPr/>
        </p:nvSpPr>
        <p:spPr>
          <a:xfrm>
            <a:off x="364940" y="1615577"/>
            <a:ext cx="11641173" cy="4524315"/>
          </a:xfrm>
          <a:prstGeom prst="rect">
            <a:avLst/>
          </a:prstGeom>
          <a:noFill/>
        </p:spPr>
        <p:txBody>
          <a:bodyPr wrap="square" rtlCol="0">
            <a:spAutoFit/>
          </a:bodyPr>
          <a:lstStyle/>
          <a:p>
            <a:pPr marL="742950" lvl="1" indent="-285750">
              <a:buFont typeface="Arial" panose="020B0604020202020204" pitchFamily="34" charset="0"/>
              <a:buChar char="•"/>
            </a:pPr>
            <a:r>
              <a:rPr lang="en-US" dirty="0"/>
              <a:t>Customers overview </a:t>
            </a:r>
          </a:p>
          <a:p>
            <a:pPr marL="742950" lvl="1" indent="-285750">
              <a:buFont typeface="Arial" panose="020B0604020202020204" pitchFamily="34" charset="0"/>
              <a:buChar char="•"/>
            </a:pPr>
            <a:r>
              <a:rPr lang="en-US" dirty="0"/>
              <a:t>Age Distribution </a:t>
            </a:r>
            <a:r>
              <a:rPr lang="en-US" b="1" dirty="0"/>
              <a:t>(avg - 41.9)</a:t>
            </a:r>
          </a:p>
          <a:p>
            <a:pPr marL="742950" lvl="1" indent="-285750">
              <a:buFont typeface="Arial" panose="020B0604020202020204" pitchFamily="34" charset="0"/>
              <a:buChar char="•"/>
            </a:pPr>
            <a:r>
              <a:rPr lang="en-US" dirty="0"/>
              <a:t>Relationship with Bank </a:t>
            </a:r>
            <a:r>
              <a:rPr lang="en-US" b="1" dirty="0"/>
              <a:t>(avg - 13.3 years)</a:t>
            </a:r>
          </a:p>
          <a:p>
            <a:pPr marL="742950" lvl="1" indent="-285750">
              <a:buFont typeface="Arial" panose="020B0604020202020204" pitchFamily="34" charset="0"/>
              <a:buChar char="•"/>
            </a:pPr>
            <a:r>
              <a:rPr lang="en-US" dirty="0"/>
              <a:t>Various products/holdings </a:t>
            </a:r>
            <a:r>
              <a:rPr lang="en-US" b="1" dirty="0"/>
              <a:t>(debit card – 65%, credit card – 2%)</a:t>
            </a:r>
          </a:p>
          <a:p>
            <a:pPr marL="742950" lvl="1" indent="-285750">
              <a:buFont typeface="Arial" panose="020B0604020202020204" pitchFamily="34" charset="0"/>
              <a:buChar char="•"/>
            </a:pPr>
            <a:r>
              <a:rPr lang="en-US" dirty="0"/>
              <a:t>Gender Distribution </a:t>
            </a:r>
          </a:p>
          <a:p>
            <a:pPr marL="742950" lvl="1" indent="-285750">
              <a:buFont typeface="Arial" panose="020B0604020202020204" pitchFamily="34" charset="0"/>
              <a:buChar char="•"/>
            </a:pPr>
            <a:r>
              <a:rPr lang="en-US" dirty="0"/>
              <a:t>Types of Accounts</a:t>
            </a:r>
          </a:p>
          <a:p>
            <a:pPr marL="742950" lvl="1" indent="-285750">
              <a:buFont typeface="Arial" panose="020B0604020202020204" pitchFamily="34" charset="0"/>
              <a:buChar char="•"/>
            </a:pPr>
            <a:r>
              <a:rPr lang="en-US" dirty="0"/>
              <a:t>Primary Bank Ratio</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Transactions data range - primarily Nov onwards (10 transactions Sept/Oct)</a:t>
            </a:r>
          </a:p>
          <a:p>
            <a:pPr marL="742950" lvl="1" indent="-285750">
              <a:buFont typeface="Arial" panose="020B0604020202020204" pitchFamily="34" charset="0"/>
              <a:buChar char="•"/>
            </a:pPr>
            <a:r>
              <a:rPr lang="en-US" dirty="0"/>
              <a:t>Amount distribution </a:t>
            </a:r>
            <a:r>
              <a:rPr lang="en-US" b="1" dirty="0"/>
              <a:t>(avg - $49.5)</a:t>
            </a:r>
          </a:p>
          <a:p>
            <a:pPr marL="742950" lvl="1" indent="-285750">
              <a:buFont typeface="Arial" panose="020B0604020202020204" pitchFamily="34" charset="0"/>
              <a:buChar char="•"/>
            </a:pPr>
            <a:r>
              <a:rPr lang="en-US" dirty="0"/>
              <a:t>Weekly/Hourly Classification </a:t>
            </a:r>
            <a:r>
              <a:rPr lang="en-US" b="1" dirty="0"/>
              <a:t>(maximum on Fridays | general peak time 12 to 1 PM)</a:t>
            </a:r>
          </a:p>
          <a:p>
            <a:pPr marL="742950" lvl="1" indent="-285750">
              <a:buFont typeface="Arial" panose="020B0604020202020204" pitchFamily="34" charset="0"/>
              <a:buChar char="•"/>
            </a:pPr>
            <a:r>
              <a:rPr lang="en-US" dirty="0"/>
              <a:t>Merchant Categories </a:t>
            </a:r>
            <a:r>
              <a:rPr lang="en-US" b="1" dirty="0"/>
              <a:t>(Top 3 : 5411 (grocery), 5814 (fast food), 5541 (service stations)</a:t>
            </a:r>
          </a:p>
          <a:p>
            <a:pPr marL="742950" lvl="1" indent="-285750">
              <a:buFont typeface="Arial" panose="020B0604020202020204" pitchFamily="34" charset="0"/>
              <a:buChar char="•"/>
            </a:pPr>
            <a:r>
              <a:rPr lang="en-US" dirty="0"/>
              <a:t>Transaction types </a:t>
            </a:r>
          </a:p>
          <a:p>
            <a:pPr marL="742950" lvl="1" indent="-285750">
              <a:buFont typeface="Arial" panose="020B0604020202020204" pitchFamily="34" charset="0"/>
              <a:buChar char="•"/>
            </a:pPr>
            <a:r>
              <a:rPr lang="en-US" dirty="0"/>
              <a:t>Transactions per customers </a:t>
            </a:r>
            <a:r>
              <a:rPr lang="en-US" b="1" dirty="0"/>
              <a:t>(avg – 64 per customer)</a:t>
            </a:r>
          </a:p>
          <a:p>
            <a:pPr lvl="1"/>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736506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8095F-0990-5AB9-73FA-51D2F5D1B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45CB8-3D61-96D8-5766-888C286F2C4F}"/>
              </a:ext>
            </a:extLst>
          </p:cNvPr>
          <p:cNvSpPr>
            <a:spLocks noGrp="1"/>
          </p:cNvSpPr>
          <p:nvPr>
            <p:ph type="title"/>
          </p:nvPr>
        </p:nvSpPr>
        <p:spPr/>
        <p:txBody>
          <a:bodyPr/>
          <a:lstStyle/>
          <a:p>
            <a:r>
              <a:rPr lang="en-US" dirty="0"/>
              <a:t>Status </a:t>
            </a:r>
          </a:p>
        </p:txBody>
      </p:sp>
      <p:sp>
        <p:nvSpPr>
          <p:cNvPr id="3" name="TextBox 2">
            <a:extLst>
              <a:ext uri="{FF2B5EF4-FFF2-40B4-BE49-F238E27FC236}">
                <a16:creationId xmlns:a16="http://schemas.microsoft.com/office/drawing/2014/main" id="{7C3FE2C2-59CC-84C3-5672-7108A83E8489}"/>
              </a:ext>
            </a:extLst>
          </p:cNvPr>
          <p:cNvSpPr txBox="1"/>
          <p:nvPr/>
        </p:nvSpPr>
        <p:spPr>
          <a:xfrm>
            <a:off x="395926" y="1690688"/>
            <a:ext cx="11397006"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Actions – </a:t>
            </a:r>
          </a:p>
          <a:p>
            <a:pPr marL="742950" lvl="1" indent="-285750">
              <a:buFont typeface="Arial" panose="020B0604020202020204" pitchFamily="34" charset="0"/>
              <a:buChar char="•"/>
            </a:pPr>
            <a:r>
              <a:rPr lang="en-US" dirty="0"/>
              <a:t>First Stakeholder meeting done and initial feedback gathered</a:t>
            </a:r>
          </a:p>
          <a:p>
            <a:pPr marL="742950" lvl="1" indent="-285750">
              <a:buFont typeface="Arial" panose="020B0604020202020204" pitchFamily="34" charset="0"/>
              <a:buChar char="•"/>
            </a:pPr>
            <a:r>
              <a:rPr lang="en-US" dirty="0"/>
              <a:t>Data Cleaning : Files processed</a:t>
            </a:r>
          </a:p>
          <a:p>
            <a:pPr marL="1200150" lvl="2" indent="-285750">
              <a:buFont typeface="Arial" panose="020B0604020202020204" pitchFamily="34" charset="0"/>
              <a:buChar char="•"/>
            </a:pPr>
            <a:r>
              <a:rPr lang="en-US" dirty="0"/>
              <a:t>Main challenge was loading the csv file correctly into the database because of extra commas in the csv file</a:t>
            </a:r>
          </a:p>
          <a:p>
            <a:pPr marL="1200150" lvl="2" indent="-285750">
              <a:buFont typeface="Arial" panose="020B0604020202020204" pitchFamily="34" charset="0"/>
              <a:buChar char="•"/>
            </a:pPr>
            <a:r>
              <a:rPr lang="en-US" dirty="0"/>
              <a:t>Questions regarding the data sent to Sean and got feedback</a:t>
            </a:r>
          </a:p>
          <a:p>
            <a:pPr marL="1200150" lvl="2" indent="-285750">
              <a:buFont typeface="Arial" panose="020B0604020202020204" pitchFamily="34" charset="0"/>
              <a:buChar char="•"/>
            </a:pPr>
            <a:r>
              <a:rPr lang="en-US" dirty="0"/>
              <a:t>Duplicate </a:t>
            </a:r>
            <a:r>
              <a:rPr lang="en-US" dirty="0" err="1"/>
              <a:t>customerID</a:t>
            </a:r>
            <a:r>
              <a:rPr lang="en-US" dirty="0"/>
              <a:t> – need to ignore (feedback from Sean)</a:t>
            </a:r>
          </a:p>
          <a:p>
            <a:pPr marL="1200150" lvl="2" indent="-285750">
              <a:buFont typeface="Arial" panose="020B0604020202020204" pitchFamily="34" charset="0"/>
              <a:buChar char="•"/>
            </a:pPr>
            <a:r>
              <a:rPr lang="en-US" dirty="0"/>
              <a:t>Non-individual type customers with gender value – (validated)</a:t>
            </a:r>
          </a:p>
          <a:p>
            <a:pPr marL="1200150" lvl="2" indent="-285750">
              <a:buFont typeface="Arial" panose="020B0604020202020204" pitchFamily="34" charset="0"/>
              <a:buChar char="•"/>
            </a:pPr>
            <a:r>
              <a:rPr lang="en-US" dirty="0" err="1"/>
              <a:t>ATM_City_State</a:t>
            </a:r>
            <a:r>
              <a:rPr lang="en-US" dirty="0"/>
              <a:t> is NULL for 90 records (</a:t>
            </a:r>
            <a:r>
              <a:rPr lang="en-US" b="1" dirty="0"/>
              <a:t>originally 928 due to incorrect parsing of the file</a:t>
            </a:r>
            <a:r>
              <a:rPr lang="en-US" dirty="0"/>
              <a:t>) and 1.17% are $0 transactions (send output to Sean)</a:t>
            </a:r>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FBE2DAA0-06F9-E08A-0269-81EE7A7FA7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6549" y="4228694"/>
            <a:ext cx="3745451" cy="2629306"/>
          </a:xfrm>
          <a:prstGeom prst="rect">
            <a:avLst/>
          </a:prstGeom>
        </p:spPr>
      </p:pic>
    </p:spTree>
    <p:extLst>
      <p:ext uri="{BB962C8B-B14F-4D97-AF65-F5344CB8AC3E}">
        <p14:creationId xmlns:p14="http://schemas.microsoft.com/office/powerpoint/2010/main" val="640826437"/>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emplate>Customer – Transactions Activity Anomaly</Template>
  <TotalTime>114</TotalTime>
  <Words>463</Words>
  <Application>Microsoft Office PowerPoint</Application>
  <PresentationFormat>Widescreen</PresentationFormat>
  <Paragraphs>47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Avenir Next LT Pro</vt:lpstr>
      <vt:lpstr>AvenirNext LT Pro Medium</vt:lpstr>
      <vt:lpstr>Posterama</vt:lpstr>
      <vt:lpstr>ExploreVTI</vt:lpstr>
      <vt:lpstr>Customer – Transactions Activity &amp; Spending Patterns</vt:lpstr>
      <vt:lpstr>Context</vt:lpstr>
      <vt:lpstr>Insights from Stakeholder meeting</vt:lpstr>
      <vt:lpstr>About Data</vt:lpstr>
      <vt:lpstr>EDA So Far…</vt:lpstr>
      <vt:lpstr>Status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Sonar</dc:creator>
  <cp:lastModifiedBy>Omkar Sonar</cp:lastModifiedBy>
  <cp:revision>1</cp:revision>
  <dcterms:created xsi:type="dcterms:W3CDTF">2026-02-09T21:12:06Z</dcterms:created>
  <dcterms:modified xsi:type="dcterms:W3CDTF">2026-02-09T23:23:38Z</dcterms:modified>
</cp:coreProperties>
</file>