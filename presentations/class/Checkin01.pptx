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Sonar" userId="70dbfcd21af17b01" providerId="LiveId" clId="{0B6FD110-2196-4656-B911-E415BA9907B5}"/>
    <pc:docChg chg="undo custSel delSld modSld">
      <pc:chgData name="Omkar Sonar" userId="70dbfcd21af17b01" providerId="LiveId" clId="{0B6FD110-2196-4656-B911-E415BA9907B5}" dt="2026-02-02T23:20:07.641" v="798" actId="20577"/>
      <pc:docMkLst>
        <pc:docMk/>
      </pc:docMkLst>
      <pc:sldChg chg="modSp mod">
        <pc:chgData name="Omkar Sonar" userId="70dbfcd21af17b01" providerId="LiveId" clId="{0B6FD110-2196-4656-B911-E415BA9907B5}" dt="2026-02-02T21:47:11.922" v="577" actId="20577"/>
        <pc:sldMkLst>
          <pc:docMk/>
          <pc:sldMk cId="2331513954" sldId="256"/>
        </pc:sldMkLst>
        <pc:spChg chg="mod">
          <ac:chgData name="Omkar Sonar" userId="70dbfcd21af17b01" providerId="LiveId" clId="{0B6FD110-2196-4656-B911-E415BA9907B5}" dt="2026-02-02T21:47:11.922" v="577" actId="20577"/>
          <ac:spMkLst>
            <pc:docMk/>
            <pc:sldMk cId="2331513954" sldId="256"/>
            <ac:spMk id="2" creationId="{F46F3A4D-EDF6-12E6-9C90-497F9EB08295}"/>
          </ac:spMkLst>
        </pc:spChg>
        <pc:spChg chg="mod">
          <ac:chgData name="Omkar Sonar" userId="70dbfcd21af17b01" providerId="LiveId" clId="{0B6FD110-2196-4656-B911-E415BA9907B5}" dt="2026-02-02T18:34:12.616" v="72" actId="20577"/>
          <ac:spMkLst>
            <pc:docMk/>
            <pc:sldMk cId="2331513954" sldId="256"/>
            <ac:spMk id="3" creationId="{A9EBCC98-45ED-1DDF-D276-F81AA39B4413}"/>
          </ac:spMkLst>
        </pc:spChg>
      </pc:sldChg>
      <pc:sldChg chg="modSp mod">
        <pc:chgData name="Omkar Sonar" userId="70dbfcd21af17b01" providerId="LiveId" clId="{0B6FD110-2196-4656-B911-E415BA9907B5}" dt="2026-02-02T23:20:07.641" v="798" actId="20577"/>
        <pc:sldMkLst>
          <pc:docMk/>
          <pc:sldMk cId="21886708" sldId="258"/>
        </pc:sldMkLst>
        <pc:spChg chg="mod">
          <ac:chgData name="Omkar Sonar" userId="70dbfcd21af17b01" providerId="LiveId" clId="{0B6FD110-2196-4656-B911-E415BA9907B5}" dt="2026-02-02T23:20:07.641" v="798" actId="20577"/>
          <ac:spMkLst>
            <pc:docMk/>
            <pc:sldMk cId="21886708" sldId="258"/>
            <ac:spMk id="4" creationId="{460EAF33-4566-1421-995A-6EFF9F7A7DA7}"/>
          </ac:spMkLst>
        </pc:spChg>
      </pc:sldChg>
      <pc:sldChg chg="addSp modSp mod">
        <pc:chgData name="Omkar Sonar" userId="70dbfcd21af17b01" providerId="LiveId" clId="{0B6FD110-2196-4656-B911-E415BA9907B5}" dt="2026-02-02T22:40:29.566" v="779" actId="20577"/>
        <pc:sldMkLst>
          <pc:docMk/>
          <pc:sldMk cId="1539781016" sldId="259"/>
        </pc:sldMkLst>
        <pc:spChg chg="mod">
          <ac:chgData name="Omkar Sonar" userId="70dbfcd21af17b01" providerId="LiveId" clId="{0B6FD110-2196-4656-B911-E415BA9907B5}" dt="2026-02-02T19:36:01.862" v="132" actId="20577"/>
          <ac:spMkLst>
            <pc:docMk/>
            <pc:sldMk cId="1539781016" sldId="259"/>
            <ac:spMk id="2" creationId="{37CB7EF3-D21B-2770-AD91-2494C01630D0}"/>
          </ac:spMkLst>
        </pc:spChg>
        <pc:spChg chg="add mod">
          <ac:chgData name="Omkar Sonar" userId="70dbfcd21af17b01" providerId="LiveId" clId="{0B6FD110-2196-4656-B911-E415BA9907B5}" dt="2026-02-02T22:40:29.566" v="779" actId="20577"/>
          <ac:spMkLst>
            <pc:docMk/>
            <pc:sldMk cId="1539781016" sldId="259"/>
            <ac:spMk id="3" creationId="{7D5F3F36-BA14-2878-EE19-C2EC0998AA5D}"/>
          </ac:spMkLst>
        </pc:spChg>
      </pc:sldChg>
      <pc:sldChg chg="addSp modSp del mod">
        <pc:chgData name="Omkar Sonar" userId="70dbfcd21af17b01" providerId="LiveId" clId="{0B6FD110-2196-4656-B911-E415BA9907B5}" dt="2026-02-02T19:41:33.453" v="458" actId="47"/>
        <pc:sldMkLst>
          <pc:docMk/>
          <pc:sldMk cId="3817843730"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2/2/2026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2/2/2026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2/2/2026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F3A4D-EDF6-12E6-9C90-497F9EB08295}"/>
              </a:ext>
            </a:extLst>
          </p:cNvPr>
          <p:cNvSpPr>
            <a:spLocks noGrp="1"/>
          </p:cNvSpPr>
          <p:nvPr>
            <p:ph type="ctrTitle"/>
          </p:nvPr>
        </p:nvSpPr>
        <p:spPr/>
        <p:txBody>
          <a:bodyPr>
            <a:normAutofit fontScale="90000"/>
          </a:bodyPr>
          <a:lstStyle/>
          <a:p>
            <a:r>
              <a:rPr lang="en-US" dirty="0"/>
              <a:t>Customer – Transactions Activity &amp; Spending Patterns</a:t>
            </a:r>
          </a:p>
        </p:txBody>
      </p:sp>
      <p:sp>
        <p:nvSpPr>
          <p:cNvPr id="3" name="Subtitle 2">
            <a:extLst>
              <a:ext uri="{FF2B5EF4-FFF2-40B4-BE49-F238E27FC236}">
                <a16:creationId xmlns:a16="http://schemas.microsoft.com/office/drawing/2014/main" id="{A9EBCC98-45ED-1DDF-D276-F81AA39B4413}"/>
              </a:ext>
            </a:extLst>
          </p:cNvPr>
          <p:cNvSpPr>
            <a:spLocks noGrp="1"/>
          </p:cNvSpPr>
          <p:nvPr>
            <p:ph type="subTitle" idx="1"/>
          </p:nvPr>
        </p:nvSpPr>
        <p:spPr/>
        <p:txBody>
          <a:bodyPr/>
          <a:lstStyle/>
          <a:p>
            <a:r>
              <a:rPr lang="en-US" dirty="0"/>
              <a:t>DS 5500 : Check-in 01</a:t>
            </a:r>
          </a:p>
          <a:p>
            <a:r>
              <a:rPr lang="en-US" dirty="0"/>
              <a:t>Omkar Sonar</a:t>
            </a:r>
          </a:p>
          <a:p>
            <a:r>
              <a:rPr lang="en-US" dirty="0"/>
              <a:t>2</a:t>
            </a:r>
            <a:r>
              <a:rPr lang="en-US" baseline="30000" dirty="0"/>
              <a:t>nd</a:t>
            </a:r>
            <a:r>
              <a:rPr lang="en-US" dirty="0"/>
              <a:t> February 2026</a:t>
            </a:r>
          </a:p>
        </p:txBody>
      </p:sp>
    </p:spTree>
    <p:extLst>
      <p:ext uri="{BB962C8B-B14F-4D97-AF65-F5344CB8AC3E}">
        <p14:creationId xmlns:p14="http://schemas.microsoft.com/office/powerpoint/2010/main" val="2331513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F401-A273-71FF-F566-F7D710970B21}"/>
              </a:ext>
            </a:extLst>
          </p:cNvPr>
          <p:cNvSpPr>
            <a:spLocks noGrp="1"/>
          </p:cNvSpPr>
          <p:nvPr>
            <p:ph type="title"/>
          </p:nvPr>
        </p:nvSpPr>
        <p:spPr/>
        <p:txBody>
          <a:bodyPr/>
          <a:lstStyle/>
          <a:p>
            <a:r>
              <a:rPr lang="en-US" dirty="0"/>
              <a:t>Context/Project Motivation</a:t>
            </a:r>
          </a:p>
        </p:txBody>
      </p:sp>
      <p:sp>
        <p:nvSpPr>
          <p:cNvPr id="4" name="TextBox 3">
            <a:extLst>
              <a:ext uri="{FF2B5EF4-FFF2-40B4-BE49-F238E27FC236}">
                <a16:creationId xmlns:a16="http://schemas.microsoft.com/office/drawing/2014/main" id="{460EAF33-4566-1421-995A-6EFF9F7A7DA7}"/>
              </a:ext>
            </a:extLst>
          </p:cNvPr>
          <p:cNvSpPr txBox="1"/>
          <p:nvPr/>
        </p:nvSpPr>
        <p:spPr>
          <a:xfrm>
            <a:off x="395926" y="1690688"/>
            <a:ext cx="11397006"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Bangor Savings Bank Data Engineer Co-op </a:t>
            </a:r>
          </a:p>
          <a:p>
            <a:pPr marL="285750" indent="-285750">
              <a:buFont typeface="Arial" panose="020B0604020202020204" pitchFamily="34" charset="0"/>
              <a:buChar char="•"/>
            </a:pPr>
            <a:r>
              <a:rPr lang="en-US" b="1" dirty="0"/>
              <a:t>Risk Management Team </a:t>
            </a:r>
          </a:p>
          <a:p>
            <a:pPr marL="285750" indent="-285750">
              <a:buFont typeface="Arial" panose="020B0604020202020204" pitchFamily="34" charset="0"/>
              <a:buChar char="•"/>
            </a:pPr>
            <a:r>
              <a:rPr lang="en-US" b="1" dirty="0"/>
              <a:t>Story – </a:t>
            </a:r>
          </a:p>
          <a:p>
            <a:r>
              <a:rPr lang="en-US" i="1" dirty="0"/>
              <a:t>Bank transactions generally record everything and though they are masked or concise, a bank employee would be able to decode a person's habits and most of their routine based on their bank transactions. Analyzing the different kinds of transactions and deducing patterns in them can also help us in finding anomalies based on unusual activity. This could indicate account takeover or card fraud. The primary goal is to demonstrate how customer data and their transaction behavior can help us in surfacing this suspicious activity. As more progress is made on this data, the scope is subject to change based on the initial findings.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886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30737-D099-ABDE-9B7D-2E2451F28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B7EF3-D21B-2770-AD91-2494C01630D0}"/>
              </a:ext>
            </a:extLst>
          </p:cNvPr>
          <p:cNvSpPr>
            <a:spLocks noGrp="1"/>
          </p:cNvSpPr>
          <p:nvPr>
            <p:ph type="title"/>
          </p:nvPr>
        </p:nvSpPr>
        <p:spPr/>
        <p:txBody>
          <a:bodyPr/>
          <a:lstStyle/>
          <a:p>
            <a:r>
              <a:rPr lang="en-US" dirty="0"/>
              <a:t>Steps </a:t>
            </a:r>
          </a:p>
        </p:txBody>
      </p:sp>
      <p:sp>
        <p:nvSpPr>
          <p:cNvPr id="3" name="TextBox 2">
            <a:extLst>
              <a:ext uri="{FF2B5EF4-FFF2-40B4-BE49-F238E27FC236}">
                <a16:creationId xmlns:a16="http://schemas.microsoft.com/office/drawing/2014/main" id="{7D5F3F36-BA14-2878-EE19-C2EC0998AA5D}"/>
              </a:ext>
            </a:extLst>
          </p:cNvPr>
          <p:cNvSpPr txBox="1"/>
          <p:nvPr/>
        </p:nvSpPr>
        <p:spPr>
          <a:xfrm>
            <a:off x="395926" y="1690688"/>
            <a:ext cx="11397006"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t>Data – </a:t>
            </a:r>
            <a:r>
              <a:rPr lang="en-US" dirty="0"/>
              <a:t>(from Sept 25 to Jan 26)</a:t>
            </a:r>
          </a:p>
          <a:p>
            <a:pPr marL="742950" lvl="1" indent="-285750">
              <a:buFont typeface="Arial" panose="020B0604020202020204" pitchFamily="34" charset="0"/>
              <a:buChar char="•"/>
            </a:pPr>
            <a:r>
              <a:rPr lang="en-US" dirty="0"/>
              <a:t>Customer Demographics ~276K records</a:t>
            </a:r>
          </a:p>
          <a:p>
            <a:pPr marL="742950" lvl="1" indent="-285750">
              <a:buFont typeface="Arial" panose="020B0604020202020204" pitchFamily="34" charset="0"/>
              <a:buChar char="•"/>
            </a:pPr>
            <a:r>
              <a:rPr lang="en-US" dirty="0"/>
              <a:t>Transactions ~8M records</a:t>
            </a:r>
          </a:p>
          <a:p>
            <a:pPr marL="285750" indent="-285750">
              <a:buFont typeface="Arial" panose="020B0604020202020204" pitchFamily="34" charset="0"/>
              <a:buChar char="•"/>
            </a:pPr>
            <a:r>
              <a:rPr lang="en-US" b="1" dirty="0"/>
              <a:t>Actions – </a:t>
            </a:r>
          </a:p>
          <a:p>
            <a:pPr marL="742950" lvl="1" indent="-285750">
              <a:buFont typeface="Arial" panose="020B0604020202020204" pitchFamily="34" charset="0"/>
              <a:buChar char="•"/>
            </a:pPr>
            <a:r>
              <a:rPr lang="en-US" dirty="0"/>
              <a:t>Data Cleaning : Files processed (empty rows, multiple commas in same column in csv, missing headers added)</a:t>
            </a:r>
          </a:p>
          <a:p>
            <a:pPr marL="742950" lvl="1" indent="-285750">
              <a:buFont typeface="Arial" panose="020B0604020202020204" pitchFamily="34" charset="0"/>
              <a:buChar char="•"/>
            </a:pPr>
            <a:r>
              <a:rPr lang="en-US" dirty="0"/>
              <a:t>EDA – WIP (Notable points)</a:t>
            </a:r>
          </a:p>
          <a:p>
            <a:pPr marL="1200150" lvl="2" indent="-285750">
              <a:buFont typeface="Arial" panose="020B0604020202020204" pitchFamily="34" charset="0"/>
              <a:buChar char="•"/>
            </a:pPr>
            <a:r>
              <a:rPr lang="en-US" dirty="0"/>
              <a:t>Duplicate </a:t>
            </a:r>
            <a:r>
              <a:rPr lang="en-US" dirty="0" err="1"/>
              <a:t>customerID</a:t>
            </a:r>
            <a:endParaRPr lang="en-US" dirty="0"/>
          </a:p>
          <a:p>
            <a:pPr marL="1200150" lvl="2" indent="-285750">
              <a:buFont typeface="Arial" panose="020B0604020202020204" pitchFamily="34" charset="0"/>
              <a:buChar char="•"/>
            </a:pPr>
            <a:r>
              <a:rPr lang="en-US" dirty="0"/>
              <a:t>Non-individual type customers with gender value – need to validate</a:t>
            </a:r>
          </a:p>
          <a:p>
            <a:pPr marL="1200150" lvl="2" indent="-285750">
              <a:buFont typeface="Arial" panose="020B0604020202020204" pitchFamily="34" charset="0"/>
              <a:buChar char="•"/>
            </a:pPr>
            <a:r>
              <a:rPr lang="en-US" dirty="0"/>
              <a:t>1.17% - $0 transactions (failures/refunds?)</a:t>
            </a:r>
          </a:p>
          <a:p>
            <a:pPr marL="1200150" lvl="2" indent="-285750">
              <a:buFont typeface="Arial" panose="020B0604020202020204" pitchFamily="34" charset="0"/>
              <a:buChar char="•"/>
            </a:pPr>
            <a:r>
              <a:rPr lang="en-US" dirty="0"/>
              <a:t>1425 transactions by an individual customer in 2 months</a:t>
            </a:r>
          </a:p>
          <a:p>
            <a:pPr marL="1200150" lvl="2" indent="-285750">
              <a:buFont typeface="Arial" panose="020B0604020202020204" pitchFamily="34" charset="0"/>
              <a:buChar char="•"/>
            </a:pPr>
            <a:r>
              <a:rPr lang="en-US" dirty="0"/>
              <a:t>~70k customers common in both datasets</a:t>
            </a:r>
          </a:p>
          <a:p>
            <a:pPr marL="285750" indent="-285750">
              <a:buFont typeface="Arial" panose="020B0604020202020204" pitchFamily="34" charset="0"/>
              <a:buChar char="•"/>
            </a:pPr>
            <a:r>
              <a:rPr lang="en-US" b="1" dirty="0"/>
              <a:t>Next Steps –</a:t>
            </a:r>
          </a:p>
          <a:p>
            <a:pPr marL="742950" lvl="1" indent="-285750">
              <a:buFont typeface="Arial" panose="020B0604020202020204" pitchFamily="34" charset="0"/>
              <a:buChar char="•"/>
            </a:pPr>
            <a:r>
              <a:rPr lang="en-US" dirty="0"/>
              <a:t>Merchant Codes description – add in documentation/code</a:t>
            </a:r>
          </a:p>
          <a:p>
            <a:pPr marL="742950" lvl="1" indent="-285750">
              <a:buFont typeface="Arial" panose="020B0604020202020204" pitchFamily="34" charset="0"/>
              <a:buChar char="•"/>
            </a:pPr>
            <a:r>
              <a:rPr lang="en-US" dirty="0"/>
              <a:t>Meet with stakeholder</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39781016"/>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Explore</Template>
  <TotalTime>1197</TotalTime>
  <Words>246</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Avenir Next LT Pro</vt:lpstr>
      <vt:lpstr>AvenirNext LT Pro Medium</vt:lpstr>
      <vt:lpstr>Posterama</vt:lpstr>
      <vt:lpstr>ExploreVTI</vt:lpstr>
      <vt:lpstr>Customer – Transactions Activity &amp; Spending Patterns</vt:lpstr>
      <vt:lpstr>Context/Project Motivation</vt:lpstr>
      <vt:lpstr>Steps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Sonar</dc:creator>
  <cp:lastModifiedBy>Omkar Sonar</cp:lastModifiedBy>
  <cp:revision>1</cp:revision>
  <dcterms:created xsi:type="dcterms:W3CDTF">2026-02-01T18:07:27Z</dcterms:created>
  <dcterms:modified xsi:type="dcterms:W3CDTF">2026-02-03T04:01:40Z</dcterms:modified>
</cp:coreProperties>
</file>